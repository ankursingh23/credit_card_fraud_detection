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74" r:id="rId9"/>
    <p:sldId id="275" r:id="rId10"/>
    <p:sldId id="263" r:id="rId11"/>
    <p:sldId id="264" r:id="rId12"/>
    <p:sldId id="265" r:id="rId13"/>
    <p:sldId id="266" r:id="rId14"/>
    <p:sldId id="267" r:id="rId15"/>
    <p:sldId id="276" r:id="rId16"/>
    <p:sldId id="268" r:id="rId17"/>
    <p:sldId id="277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327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04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60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71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807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0267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33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707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349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7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902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012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64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583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658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620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34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0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</a:t>
            </a:r>
            <a:r>
              <a:rPr sz="2800" b="1" dirty="0"/>
              <a:t>Credit Card Fraud Detection using </a:t>
            </a:r>
            <a:r>
              <a:rPr lang="en-US" sz="2800" b="1" dirty="0"/>
              <a:t>     					</a:t>
            </a:r>
            <a:r>
              <a:rPr sz="2800" b="1" dirty="0"/>
              <a:t>Machine</a:t>
            </a:r>
            <a:r>
              <a:rPr lang="en-US" sz="2800" b="1" dirty="0"/>
              <a:t> </a:t>
            </a:r>
            <a:r>
              <a:rPr sz="2800" b="1" dirty="0"/>
              <a:t>Learning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				    </a:t>
            </a:r>
            <a:r>
              <a:rPr sz="2800" dirty="0"/>
              <a:t>Ankur Singh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				      12324852</a:t>
            </a:r>
            <a:endParaRPr sz="2800" dirty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sz="2800" dirty="0"/>
              <a:t>Kaggle – ULB Credit Card Fraud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Credit card fraud leads to significant financial losses.</a:t>
            </a:r>
          </a:p>
          <a:p>
            <a:r>
              <a:rPr dirty="0"/>
              <a:t>Fraud transactions are rare and difficult to identify.</a:t>
            </a:r>
          </a:p>
          <a:p>
            <a:r>
              <a:rPr dirty="0"/>
              <a:t>Objective: Classify transactions as Fraud or Legitimate.</a:t>
            </a:r>
          </a:p>
          <a:p>
            <a:r>
              <a:rPr dirty="0"/>
              <a:t>This is a highly imbalanced binary</a:t>
            </a:r>
            <a:r>
              <a:rPr lang="en-US" dirty="0"/>
              <a:t> </a:t>
            </a:r>
            <a:r>
              <a:rPr dirty="0"/>
              <a:t>classification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transactions: 284,807</a:t>
            </a:r>
          </a:p>
          <a:p>
            <a:pPr marL="0" indent="0">
              <a:buNone/>
            </a:pPr>
            <a:r>
              <a:rPr dirty="0"/>
              <a:t>• Fraud cases: 492 (0.17%)</a:t>
            </a:r>
          </a:p>
          <a:p>
            <a:pPr marL="0" indent="0">
              <a:buNone/>
            </a:pPr>
            <a:r>
              <a:rPr dirty="0"/>
              <a:t>• Features:</a:t>
            </a:r>
          </a:p>
          <a:p>
            <a:r>
              <a:rPr dirty="0"/>
              <a:t>V1–V28: PCA-transformed (anonymized)</a:t>
            </a:r>
          </a:p>
          <a:p>
            <a:r>
              <a:rPr dirty="0"/>
              <a:t>Time, Amount</a:t>
            </a:r>
          </a:p>
          <a:p>
            <a:r>
              <a:rPr dirty="0"/>
              <a:t>Target variable: Class (0 = Legit, 1 = Fraud)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Extreme class imbalance</a:t>
            </a:r>
          </a:p>
          <a:p>
            <a:r>
              <a:rPr dirty="0"/>
              <a:t>Accuracy is misleading</a:t>
            </a:r>
          </a:p>
          <a:p>
            <a:r>
              <a:rPr dirty="0"/>
              <a:t>False negatives (missed fraud) are costly</a:t>
            </a:r>
          </a:p>
          <a:p>
            <a:r>
              <a:rPr dirty="0"/>
              <a:t>Recall is more important than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Exploratory Data Analysis (EDA)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</a:t>
            </a:r>
            <a:r>
              <a:rPr lang="en-US" sz="2000" dirty="0"/>
              <a:t>The dataset is extremely imbalanced, with fraud transactions forming only 0.17% of the total data.</a:t>
            </a:r>
            <a:endParaRPr sz="2000" dirty="0"/>
          </a:p>
          <a:p>
            <a:r>
              <a:rPr lang="en-US" sz="2000" dirty="0"/>
              <a:t>Fraud transactions generally involve smaller amounts, while legitimate transactions show a wide and skewed distribution.</a:t>
            </a:r>
            <a:endParaRPr sz="2000" dirty="0"/>
          </a:p>
          <a:p>
            <a:r>
              <a:rPr lang="en-US" sz="2000" dirty="0"/>
              <a:t>PCA-transformed features (V1–V28) show partial class separability, indicating learnable patterns.</a:t>
            </a:r>
          </a:p>
          <a:p>
            <a:r>
              <a:rPr lang="en-US" sz="2000" dirty="0"/>
              <a:t>Time and Amount alone are weak predictors but become useful when combined with PCA features.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EA8F-8130-440A-CCF1-994733E4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Distribution(Log Scale)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6A6537-FDB8-8FC8-918A-DF1A60708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2557" y="2490788"/>
            <a:ext cx="4326823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27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B625-9343-FC5F-A660-C973D62B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Transaction Amount Distribution (Fraud vs Legit)</a:t>
            </a:r>
          </a:p>
        </p:txBody>
      </p:sp>
      <p:pic>
        <p:nvPicPr>
          <p:cNvPr id="5" name="Content Placeholder 4" descr="A graph of a logistic and logistic&#10;&#10;AI-generated content may be incorrect.">
            <a:extLst>
              <a:ext uri="{FF2B5EF4-FFF2-40B4-BE49-F238E27FC236}">
                <a16:creationId xmlns:a16="http://schemas.microsoft.com/office/drawing/2014/main" id="{3737EEC6-7ACE-5F22-CAA3-E4B5237884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338" y="2822337"/>
            <a:ext cx="6799262" cy="2781777"/>
          </a:xfrm>
          <a:prstGeom prst="rect">
            <a:avLst/>
          </a:prstGeom>
        </p:spPr>
      </p:pic>
      <p:pic>
        <p:nvPicPr>
          <p:cNvPr id="7" name="Picture 6" descr="A graph of a graph of a logistic&#10;&#10;AI-generated content may be incorrect.">
            <a:extLst>
              <a:ext uri="{FF2B5EF4-FFF2-40B4-BE49-F238E27FC236}">
                <a16:creationId xmlns:a16="http://schemas.microsoft.com/office/drawing/2014/main" id="{38C77887-3E59-2350-BE6E-BB1544D31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514601"/>
            <a:ext cx="7571232" cy="374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13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B7B6-4199-BAAC-884A-93DBF96F0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PCA Feature Space Visualization</a:t>
            </a:r>
            <a:br>
              <a:rPr lang="en-US" dirty="0"/>
            </a:br>
            <a:r>
              <a:rPr lang="en-US" dirty="0"/>
              <a:t> (V1 vs V2)</a:t>
            </a:r>
            <a:endParaRPr lang="en-IN" dirty="0"/>
          </a:p>
        </p:txBody>
      </p:sp>
      <p:pic>
        <p:nvPicPr>
          <p:cNvPr id="5" name="Content Placeholder 4" descr="A diagram of a diagram with a number of dots&#10;&#10;AI-generated content may be incorrect.">
            <a:extLst>
              <a:ext uri="{FF2B5EF4-FFF2-40B4-BE49-F238E27FC236}">
                <a16:creationId xmlns:a16="http://schemas.microsoft.com/office/drawing/2014/main" id="{9EC4E45E-0531-4EBC-86AC-CB88DE10E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6424" y="2490788"/>
            <a:ext cx="6798734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47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FB4F-EF25-0C1E-F600-F2FB3E016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Transaction Time Distribution (Fraud vs Legit)</a:t>
            </a:r>
          </a:p>
        </p:txBody>
      </p:sp>
      <p:pic>
        <p:nvPicPr>
          <p:cNvPr id="5" name="Content Placeholder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CA898D5-A537-5A5C-6EE1-09C69EE13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338" y="2819981"/>
            <a:ext cx="6799262" cy="278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74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Stratified train-test split (80% train, 20% test).</a:t>
            </a:r>
          </a:p>
          <a:p>
            <a:r>
              <a:rPr dirty="0"/>
              <a:t>Scaled only Time and Amount features.</a:t>
            </a:r>
          </a:p>
          <a:p>
            <a:r>
              <a:rPr dirty="0"/>
              <a:t>PCA features already standardized.</a:t>
            </a:r>
          </a:p>
          <a:p>
            <a:r>
              <a:rPr dirty="0"/>
              <a:t>Scaling applied after split to avoid data leakage.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Logistic Regression – baseline linear model.</a:t>
            </a:r>
          </a:p>
          <a:p>
            <a:r>
              <a:rPr dirty="0"/>
              <a:t>Random Forest – non-linear comparison model.</a:t>
            </a:r>
          </a:p>
          <a:p>
            <a:r>
              <a:rPr dirty="0"/>
              <a:t>Models evaluated using recall and ROC-AUC.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Precision: Correctness of fraud predictions.</a:t>
            </a:r>
          </a:p>
          <a:p>
            <a:r>
              <a:rPr dirty="0"/>
              <a:t>Recall: Ability to detect fraud (most important).</a:t>
            </a:r>
          </a:p>
          <a:p>
            <a:r>
              <a:rPr dirty="0"/>
              <a:t>F1-score: Balance between precision and recall.</a:t>
            </a:r>
          </a:p>
          <a:p>
            <a:r>
              <a:rPr dirty="0"/>
              <a:t>ROC-AUC: Overall class separability.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Logistic Regression:</a:t>
            </a:r>
          </a:p>
          <a:p>
            <a:r>
              <a:rPr dirty="0"/>
              <a:t>High Recall (~0.92)</a:t>
            </a:r>
          </a:p>
          <a:p>
            <a:r>
              <a:rPr dirty="0"/>
              <a:t>ROC-AUC ~0.97</a:t>
            </a:r>
          </a:p>
          <a:p>
            <a:endParaRPr dirty="0"/>
          </a:p>
          <a:p>
            <a:r>
              <a:rPr dirty="0"/>
              <a:t>Random Forest:</a:t>
            </a:r>
          </a:p>
          <a:p>
            <a:r>
              <a:rPr dirty="0"/>
              <a:t>High Precision</a:t>
            </a:r>
          </a:p>
          <a:p>
            <a:r>
              <a:rPr dirty="0"/>
              <a:t>Recall ~0.74</a:t>
            </a:r>
          </a:p>
          <a:p>
            <a:r>
              <a:rPr dirty="0"/>
              <a:t>ROC-AUC ~0.95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ROC curve shows trade-off between recall and false positives.</a:t>
            </a:r>
          </a:p>
          <a:p>
            <a:r>
              <a:rPr dirty="0"/>
              <a:t>Logistic Regression shows better overall separability.</a:t>
            </a:r>
          </a:p>
          <a:p>
            <a:r>
              <a:rPr dirty="0"/>
              <a:t>Threshold tuning allows control over precision-recall trade-off.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0735-B928-D669-5D1E-1CABF8443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ROC-Curve(Logistic v/s RF)</a:t>
            </a:r>
            <a:endParaRPr lang="en-IN" dirty="0"/>
          </a:p>
        </p:txBody>
      </p:sp>
      <p:pic>
        <p:nvPicPr>
          <p:cNvPr id="5" name="Content Placeholder 4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F8E2089A-338B-2EA0-B79F-89E57B309F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11" y="2541515"/>
            <a:ext cx="3335629" cy="2921765"/>
          </a:xfrm>
          <a:prstGeom prst="rect">
            <a:avLst/>
          </a:prstGeom>
        </p:spPr>
      </p:pic>
      <p:pic>
        <p:nvPicPr>
          <p:cNvPr id="7" name="Picture 6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3AD25201-EBDE-6B73-0B0F-35C66E15D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41515"/>
            <a:ext cx="3595624" cy="3038878"/>
          </a:xfrm>
          <a:prstGeom prst="rect">
            <a:avLst/>
          </a:prstGeom>
        </p:spPr>
      </p:pic>
      <p:pic>
        <p:nvPicPr>
          <p:cNvPr id="9" name="Picture 8" descr="A graph with a line and a red line&#10;&#10;AI-generated content may be incorrect.">
            <a:extLst>
              <a:ext uri="{FF2B5EF4-FFF2-40B4-BE49-F238E27FC236}">
                <a16:creationId xmlns:a16="http://schemas.microsoft.com/office/drawing/2014/main" id="{1C70B29C-9C47-79CC-9DB7-E37381187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94" y="2494746"/>
            <a:ext cx="3522726" cy="308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63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Logistic Regression outperformed Random Forest for this dataset.</a:t>
            </a:r>
          </a:p>
          <a:p>
            <a:r>
              <a:rPr dirty="0"/>
              <a:t> PCA-transformed features favor linear models.</a:t>
            </a:r>
          </a:p>
          <a:p>
            <a:r>
              <a:rPr dirty="0"/>
              <a:t> Model selection driven by data and business objective.</a:t>
            </a:r>
          </a:p>
          <a:p>
            <a:r>
              <a:rPr dirty="0"/>
              <a:t>Simpler models can outperform complex ones.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EA39B-3B79-7D54-EA78-4D402574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 Feature Importances     (Random Forest)</a:t>
            </a:r>
            <a:endParaRPr lang="en-IN" dirty="0"/>
          </a:p>
        </p:txBody>
      </p:sp>
      <p:pic>
        <p:nvPicPr>
          <p:cNvPr id="5" name="Content Placeholder 4" descr="A graph of a number of different levels&#10;&#10;AI-generated content may be incorrect.">
            <a:extLst>
              <a:ext uri="{FF2B5EF4-FFF2-40B4-BE49-F238E27FC236}">
                <a16:creationId xmlns:a16="http://schemas.microsoft.com/office/drawing/2014/main" id="{62F6494F-76AB-5BDD-4E4B-B136894D87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9737" y="2490788"/>
            <a:ext cx="4952463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70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Threshold tuning for better balance.</a:t>
            </a:r>
          </a:p>
          <a:p>
            <a:r>
              <a:rPr dirty="0"/>
              <a:t>SMOTE-based resampling.</a:t>
            </a:r>
          </a:p>
          <a:p>
            <a:r>
              <a:rPr dirty="0"/>
              <a:t>Gradient Boosting / </a:t>
            </a:r>
            <a:r>
              <a:rPr dirty="0" err="1"/>
              <a:t>XGBoost</a:t>
            </a:r>
            <a:r>
              <a:rPr dirty="0"/>
              <a:t>.</a:t>
            </a:r>
          </a:p>
          <a:p>
            <a:r>
              <a:rPr dirty="0"/>
              <a:t>Cost-sensitive learning.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218</TotalTime>
  <Words>459</Words>
  <Application>Microsoft Office PowerPoint</Application>
  <PresentationFormat>On-screen Show (4:3)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Garamond</vt:lpstr>
      <vt:lpstr>Organic</vt:lpstr>
      <vt:lpstr>Credit Card Fraud Detection</vt:lpstr>
      <vt:lpstr>Problem Statement</vt:lpstr>
      <vt:lpstr>Dataset Overview</vt:lpstr>
      <vt:lpstr>Key Challenges</vt:lpstr>
      <vt:lpstr>Exploratory Data Analysis (EDA)</vt:lpstr>
      <vt:lpstr>Class Distribution(Log Scale)</vt:lpstr>
      <vt:lpstr>Transaction Amount Distribution (Fraud vs Legit)</vt:lpstr>
      <vt:lpstr>PCA Feature Space Visualization  (V1 vs V2)</vt:lpstr>
      <vt:lpstr>Transaction Time Distribution (Fraud vs Legit)</vt:lpstr>
      <vt:lpstr>Data Preprocessing</vt:lpstr>
      <vt:lpstr>Models Used</vt:lpstr>
      <vt:lpstr>Evaluation Metrics</vt:lpstr>
      <vt:lpstr>Results Comparison</vt:lpstr>
      <vt:lpstr>ROC Curve Analysis</vt:lpstr>
      <vt:lpstr>ROC-Curve(Logistic v/s RF)</vt:lpstr>
      <vt:lpstr>Conclusion</vt:lpstr>
      <vt:lpstr>Top Feature Importances     (Random Forest)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ANKUR SINGH</cp:lastModifiedBy>
  <cp:revision>4</cp:revision>
  <dcterms:created xsi:type="dcterms:W3CDTF">2013-01-27T09:14:16Z</dcterms:created>
  <dcterms:modified xsi:type="dcterms:W3CDTF">2025-12-15T06:42:54Z</dcterms:modified>
  <cp:category/>
</cp:coreProperties>
</file>